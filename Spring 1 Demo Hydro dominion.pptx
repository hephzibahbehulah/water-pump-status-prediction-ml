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Assistant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ssistant-bold.fntdata"/><Relationship Id="rId14" Type="http://schemas.openxmlformats.org/officeDocument/2006/relationships/font" Target="fonts/Assistan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56d264711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56d264711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56d26471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b56d26471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f83f1124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af83f1124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b56d26471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b56d26471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8407ca11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8407ca11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8407ca11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8407ca11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8407ca11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8407ca11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b56d264711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b56d264711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b647448be2_1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b647448be2_1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0" y="1239060"/>
            <a:ext cx="6089100" cy="177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3015350"/>
            <a:ext cx="6089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311726" y="342910"/>
            <a:ext cx="2560425" cy="520904"/>
            <a:chOff x="311726" y="342910"/>
            <a:chExt cx="2560425" cy="520904"/>
          </a:xfrm>
        </p:grpSpPr>
        <p:sp>
          <p:nvSpPr>
            <p:cNvPr id="17" name="Google Shape;17;p2"/>
            <p:cNvSpPr/>
            <p:nvPr/>
          </p:nvSpPr>
          <p:spPr>
            <a:xfrm>
              <a:off x="311726" y="342910"/>
              <a:ext cx="2560425" cy="52090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" name="Google Shape;18;p2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7000" y="-7000"/>
            <a:ext cx="9144000" cy="25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8931400" y="0"/>
            <a:ext cx="219600" cy="515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7000" y="4798125"/>
            <a:ext cx="9144000" cy="35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5" name="Google Shape;25;p2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b="1" lang="en" sz="1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</a:t>
            </a:r>
            <a:r>
              <a:rPr b="1" lang="en" sz="1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</a:t>
            </a:r>
            <a:r>
              <a:rPr b="1" lang="en" sz="1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ignity &amp; humility   </a:t>
            </a:r>
            <a:endParaRPr b="1" sz="1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ctrTitle"/>
          </p:nvPr>
        </p:nvSpPr>
        <p:spPr>
          <a:xfrm>
            <a:off x="311725" y="1243584"/>
            <a:ext cx="6089100" cy="177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1243584"/>
            <a:ext cx="128100" cy="2568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00750" y="2400375"/>
            <a:ext cx="2743242" cy="2743120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3" name="Google Shape;33;p3"/>
          <p:cNvSpPr txBox="1"/>
          <p:nvPr/>
        </p:nvSpPr>
        <p:spPr>
          <a:xfrm rot="-2700000">
            <a:off x="6647467" y="3651017"/>
            <a:ext cx="2757716" cy="554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5"/>
              <a:buNone/>
            </a:pPr>
            <a:r>
              <a:rPr b="1" lang="en" sz="1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We use tech to connect human potential and opportunity with dignity &amp; humility   </a:t>
            </a:r>
            <a:endParaRPr b="1" sz="1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414775" y="4244650"/>
            <a:ext cx="418647" cy="418572"/>
          </a:xfrm>
          <a:custGeom>
            <a:rect b="b" l="l" r="r" t="t"/>
            <a:pathLst>
              <a:path extrusionOk="0" h="73145" w="73158">
                <a:moveTo>
                  <a:pt x="73158" y="73107"/>
                </a:moveTo>
                <a:lnTo>
                  <a:pt x="73158" y="0"/>
                </a:lnTo>
                <a:lnTo>
                  <a:pt x="0" y="7314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35" name="Google Shape;35;p3"/>
          <p:cNvSpPr/>
          <p:nvPr/>
        </p:nvSpPr>
        <p:spPr>
          <a:xfrm>
            <a:off x="8417710" y="342892"/>
            <a:ext cx="412800" cy="57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311726" y="342910"/>
            <a:ext cx="2560500" cy="520800"/>
            <a:chOff x="311726" y="342910"/>
            <a:chExt cx="2560500" cy="520800"/>
          </a:xfrm>
        </p:grpSpPr>
        <p:sp>
          <p:nvSpPr>
            <p:cNvPr id="37" name="Google Shape;37;p3"/>
            <p:cNvSpPr/>
            <p:nvPr/>
          </p:nvSpPr>
          <p:spPr>
            <a:xfrm>
              <a:off x="311726" y="342910"/>
              <a:ext cx="2560500" cy="520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" name="Google Shape;38;p3"/>
            <p:cNvPicPr preferRelativeResize="0"/>
            <p:nvPr/>
          </p:nvPicPr>
          <p:blipFill rotWithShape="1">
            <a:blip r:embed="rId2">
              <a:alphaModFix/>
            </a:blip>
            <a:srcRect b="0" l="377" r="387" t="0"/>
            <a:stretch/>
          </p:blipFill>
          <p:spPr>
            <a:xfrm>
              <a:off x="391788" y="382839"/>
              <a:ext cx="2400300" cy="4410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 type="secHead">
  <p:cSld name="SECTION_HEADER">
    <p:bg>
      <p:bgPr>
        <a:noFill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bg>
      <p:bgPr>
        <a:noFill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7000" y="4663200"/>
            <a:ext cx="9144000" cy="49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311700" y="214884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 type="tx">
  <p:cSld name="TITLE_AND_BOD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7000" y="4663225"/>
            <a:ext cx="9144000" cy="49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7000" y="-7000"/>
            <a:ext cx="9144000" cy="349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8839300" y="0"/>
            <a:ext cx="311700" cy="515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3117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2" type="body"/>
          </p:nvPr>
        </p:nvSpPr>
        <p:spPr>
          <a:xfrm>
            <a:off x="4832400" y="1005850"/>
            <a:ext cx="39999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311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1"/>
          <p:cNvSpPr txBox="1"/>
          <p:nvPr>
            <p:ph idx="2" type="body"/>
          </p:nvPr>
        </p:nvSpPr>
        <p:spPr>
          <a:xfrm>
            <a:off x="61527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p11"/>
          <p:cNvSpPr txBox="1"/>
          <p:nvPr>
            <p:ph idx="3" type="body"/>
          </p:nvPr>
        </p:nvSpPr>
        <p:spPr>
          <a:xfrm>
            <a:off x="3232200" y="1005850"/>
            <a:ext cx="2679600" cy="3657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11700" y="342900"/>
            <a:ext cx="28080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311700" y="1209300"/>
            <a:ext cx="28080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311700" y="342900"/>
            <a:ext cx="6541800" cy="432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ontact">
  <p:cSld name="MAIN_POINT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15"/>
          <p:cNvGrpSpPr/>
          <p:nvPr/>
        </p:nvGrpSpPr>
        <p:grpSpPr>
          <a:xfrm rot="2700000">
            <a:off x="585683" y="481417"/>
            <a:ext cx="694882" cy="564848"/>
            <a:chOff x="919500" y="1916075"/>
            <a:chExt cx="1067700" cy="867900"/>
          </a:xfrm>
        </p:grpSpPr>
        <p:sp>
          <p:nvSpPr>
            <p:cNvPr id="101" name="Google Shape;101;p15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" name="Google Shape;103;p15"/>
          <p:cNvGrpSpPr/>
          <p:nvPr/>
        </p:nvGrpSpPr>
        <p:grpSpPr>
          <a:xfrm rot="8100000">
            <a:off x="7746888" y="3437645"/>
            <a:ext cx="912919" cy="742084"/>
            <a:chOff x="521400" y="3135325"/>
            <a:chExt cx="1067700" cy="867900"/>
          </a:xfrm>
        </p:grpSpPr>
        <p:sp>
          <p:nvSpPr>
            <p:cNvPr id="104" name="Google Shape;104;p15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342900"/>
            <a:ext cx="8100000" cy="20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ssistant"/>
              <a:buNone/>
              <a:defRPr sz="4800">
                <a:solidFill>
                  <a:schemeClr val="accen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311700" y="679950"/>
            <a:ext cx="3999000" cy="22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Assistant"/>
              <a:buNone/>
              <a:defRPr b="1" sz="4200"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1" type="subTitle"/>
          </p:nvPr>
        </p:nvSpPr>
        <p:spPr>
          <a:xfrm>
            <a:off x="311700" y="2950350"/>
            <a:ext cx="39990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16"/>
          <p:cNvSpPr txBox="1"/>
          <p:nvPr>
            <p:ph idx="2" type="body"/>
          </p:nvPr>
        </p:nvSpPr>
        <p:spPr>
          <a:xfrm>
            <a:off x="4939500" y="342900"/>
            <a:ext cx="3419400" cy="417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311700" y="4663200"/>
            <a:ext cx="7082100" cy="48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hasCustomPrompt="1" type="title"/>
          </p:nvPr>
        </p:nvSpPr>
        <p:spPr>
          <a:xfrm>
            <a:off x="311700" y="898300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0"/>
              <a:buNone/>
              <a:defRPr sz="12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2944400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2">
  <p:cSld name="BIG_NUMBER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hasCustomPrompt="1" type="title"/>
          </p:nvPr>
        </p:nvSpPr>
        <p:spPr>
          <a:xfrm>
            <a:off x="311700" y="898300"/>
            <a:ext cx="2416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311700" y="2944400"/>
            <a:ext cx="2416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19"/>
          <p:cNvSpPr txBox="1"/>
          <p:nvPr>
            <p:ph hasCustomPrompt="1" idx="2" type="title"/>
          </p:nvPr>
        </p:nvSpPr>
        <p:spPr>
          <a:xfrm>
            <a:off x="6415800" y="898300"/>
            <a:ext cx="2416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" name="Google Shape;125;p19"/>
          <p:cNvSpPr txBox="1"/>
          <p:nvPr>
            <p:ph idx="3" type="body"/>
          </p:nvPr>
        </p:nvSpPr>
        <p:spPr>
          <a:xfrm>
            <a:off x="6415800" y="2944400"/>
            <a:ext cx="2416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hasCustomPrompt="1" idx="4" type="title"/>
          </p:nvPr>
        </p:nvSpPr>
        <p:spPr>
          <a:xfrm>
            <a:off x="3363750" y="898300"/>
            <a:ext cx="2416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  <a:defRPr sz="72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9"/>
          <p:cNvSpPr txBox="1"/>
          <p:nvPr>
            <p:ph idx="5" type="body"/>
          </p:nvPr>
        </p:nvSpPr>
        <p:spPr>
          <a:xfrm>
            <a:off x="3363750" y="2944400"/>
            <a:ext cx="24165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ssistant"/>
              <a:buNone/>
              <a:defRPr b="1" sz="2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ssistant"/>
              <a:buChar char="●"/>
              <a:defRPr sz="18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8458848" y="343116"/>
            <a:ext cx="381224" cy="576102"/>
            <a:chOff x="8458848" y="343116"/>
            <a:chExt cx="381224" cy="576102"/>
          </a:xfrm>
        </p:grpSpPr>
        <p:sp>
          <p:nvSpPr>
            <p:cNvPr id="10" name="Google Shape;10;p1"/>
            <p:cNvSpPr/>
            <p:nvPr/>
          </p:nvSpPr>
          <p:spPr>
            <a:xfrm>
              <a:off x="8458848" y="343116"/>
              <a:ext cx="381224" cy="57610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" name="Google Shape;11;p1"/>
            <p:cNvPicPr preferRelativeResize="0"/>
            <p:nvPr/>
          </p:nvPicPr>
          <p:blipFill rotWithShape="1">
            <a:blip r:embed="rId1">
              <a:alphaModFix/>
            </a:blip>
            <a:srcRect b="0" l="80" r="80" t="0"/>
            <a:stretch/>
          </p:blipFill>
          <p:spPr>
            <a:xfrm>
              <a:off x="8480104" y="384425"/>
              <a:ext cx="338711" cy="4974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pos="5564">
          <p15:clr>
            <a:srgbClr val="EA4335"/>
          </p15:clr>
        </p15:guide>
        <p15:guide id="3" orient="horz" pos="216">
          <p15:clr>
            <a:srgbClr val="EA4335"/>
          </p15:clr>
        </p15:guide>
        <p15:guide id="4" orient="horz" pos="29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ctrTitle"/>
          </p:nvPr>
        </p:nvSpPr>
        <p:spPr>
          <a:xfrm>
            <a:off x="311725" y="1371525"/>
            <a:ext cx="4640400" cy="16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 Pump Predictions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311725" y="3019874"/>
            <a:ext cx="6089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:  Hydro Dominion</a:t>
            </a:r>
            <a:endParaRPr/>
          </a:p>
        </p:txBody>
      </p:sp>
      <p:sp>
        <p:nvSpPr>
          <p:cNvPr id="136" name="Google Shape;136;p21"/>
          <p:cNvSpPr txBox="1"/>
          <p:nvPr/>
        </p:nvSpPr>
        <p:spPr>
          <a:xfrm>
            <a:off x="311700" y="3812475"/>
            <a:ext cx="2953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Contributors :</a:t>
            </a:r>
            <a:endParaRPr b="1"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ssistant"/>
              <a:buChar char="●"/>
            </a:pPr>
            <a:r>
              <a:rPr b="1"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Vaibhav Koneti</a:t>
            </a:r>
            <a:endParaRPr b="1"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ssistant"/>
              <a:buChar char="●"/>
            </a:pPr>
            <a:r>
              <a:rPr b="1"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Issac</a:t>
            </a:r>
            <a:endParaRPr b="1"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ssistant"/>
              <a:buChar char="●"/>
            </a:pPr>
            <a:r>
              <a:rPr b="1"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Blessing</a:t>
            </a:r>
            <a:endParaRPr b="1" sz="10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37" name="Google Shape;137;p21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5325" y="696850"/>
            <a:ext cx="2487925" cy="26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data good enough to use?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Pump Type Influences Functional Lifespan and Maintenance Reliability 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a bigger crowd mean more breakages?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having a management keep the water flowing?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6" name="Google Shape;146;p22"/>
          <p:cNvGrpSpPr/>
          <p:nvPr/>
        </p:nvGrpSpPr>
        <p:grpSpPr>
          <a:xfrm rot="2700000">
            <a:off x="7815861" y="3738066"/>
            <a:ext cx="1067690" cy="867892"/>
            <a:chOff x="919500" y="1916075"/>
            <a:chExt cx="1067700" cy="867900"/>
          </a:xfrm>
        </p:grpSpPr>
        <p:sp>
          <p:nvSpPr>
            <p:cNvPr id="147" name="Google Shape;147;p22"/>
            <p:cNvSpPr/>
            <p:nvPr/>
          </p:nvSpPr>
          <p:spPr>
            <a:xfrm>
              <a:off x="919500" y="199227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1071900" y="191607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22"/>
          <p:cNvGrpSpPr/>
          <p:nvPr/>
        </p:nvGrpSpPr>
        <p:grpSpPr>
          <a:xfrm rot="8100353">
            <a:off x="415573" y="3830667"/>
            <a:ext cx="734820" cy="597312"/>
            <a:chOff x="521400" y="3135325"/>
            <a:chExt cx="1067700" cy="867900"/>
          </a:xfrm>
        </p:grpSpPr>
        <p:sp>
          <p:nvSpPr>
            <p:cNvPr id="150" name="Google Shape;150;p22"/>
            <p:cNvSpPr/>
            <p:nvPr/>
          </p:nvSpPr>
          <p:spPr>
            <a:xfrm>
              <a:off x="521400" y="3211525"/>
              <a:ext cx="915300" cy="7917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2"/>
            <p:cNvSpPr/>
            <p:nvPr/>
          </p:nvSpPr>
          <p:spPr>
            <a:xfrm>
              <a:off x="673800" y="3135325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 and Preparation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Dataset Information:</a:t>
            </a:r>
            <a:r>
              <a:rPr lang="en"/>
              <a:t> Contains 59,400 rows and 41 columns.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Target Variable:</a:t>
            </a:r>
            <a:r>
              <a:rPr lang="en"/>
              <a:t> Categorized into functional, non-functional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functional needs repair.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Updated Dataset:</a:t>
            </a:r>
            <a:r>
              <a:rPr lang="en"/>
              <a:t> Reduced to 59,400 rows and 31 columns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after preprocessing.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b="1" lang="en"/>
              <a:t>Grouping the Dataset:</a:t>
            </a:r>
            <a:r>
              <a:rPr lang="en"/>
              <a:t> Based on location, technical characteristics of pumps, maintainer and demand.</a:t>
            </a:r>
            <a:endParaRPr/>
          </a:p>
        </p:txBody>
      </p:sp>
      <p:sp>
        <p:nvSpPr>
          <p:cNvPr id="158" name="Google Shape;158;p23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9" name="Google Shape;159;p23"/>
          <p:cNvGrpSpPr/>
          <p:nvPr/>
        </p:nvGrpSpPr>
        <p:grpSpPr>
          <a:xfrm>
            <a:off x="311661" y="3944677"/>
            <a:ext cx="718488" cy="718488"/>
            <a:chOff x="3717325" y="2137000"/>
            <a:chExt cx="1104178" cy="1104176"/>
          </a:xfrm>
        </p:grpSpPr>
        <p:sp>
          <p:nvSpPr>
            <p:cNvPr id="160" name="Google Shape;160;p23"/>
            <p:cNvSpPr/>
            <p:nvPr/>
          </p:nvSpPr>
          <p:spPr>
            <a:xfrm>
              <a:off x="3717325" y="2238576"/>
              <a:ext cx="1002600" cy="1002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3818903" y="213700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23"/>
          <p:cNvGrpSpPr/>
          <p:nvPr/>
        </p:nvGrpSpPr>
        <p:grpSpPr>
          <a:xfrm rot="10800000">
            <a:off x="7557850" y="1607810"/>
            <a:ext cx="1104178" cy="1104176"/>
            <a:chOff x="4185575" y="3320360"/>
            <a:chExt cx="1104178" cy="1104176"/>
          </a:xfrm>
        </p:grpSpPr>
        <p:sp>
          <p:nvSpPr>
            <p:cNvPr id="163" name="Google Shape;163;p23"/>
            <p:cNvSpPr/>
            <p:nvPr/>
          </p:nvSpPr>
          <p:spPr>
            <a:xfrm>
              <a:off x="4185575" y="3421936"/>
              <a:ext cx="1002600" cy="1002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4287153" y="3320360"/>
              <a:ext cx="1002600" cy="10026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342900"/>
            <a:ext cx="42243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this data good enough to use?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311700" y="1209300"/>
            <a:ext cx="31149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When water sources are "dry," nearly 97% of pumps become non-functional.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Pumps with "enough" water maintain the highest success rate, with over 65% remaining fully operational.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2" name="Google Shape;172;p24" title="downloa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900" y="1118213"/>
            <a:ext cx="4979949" cy="290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11700" y="342900"/>
            <a:ext cx="53307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Pump Type Influences Lifespan and Maintenance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11700" y="1209300"/>
            <a:ext cx="31149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Mono, gravity, and wind pumps last longer and stay functional more often.</a:t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16706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Handpumps and rope pumps fail and have shorter life.</a:t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16706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Wind, submersible, mono can still work well if repaired regularly.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5" title="download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0075" y="1209300"/>
            <a:ext cx="5412599" cy="2879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342900"/>
            <a:ext cx="60207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 a bigger crowd mean more breakages?</a:t>
            </a:r>
            <a:endParaRPr b="1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311700" y="1209300"/>
            <a:ext cx="31149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Pump failure is not strongly linked population served — all three statuses show similar patterns across most years.</a:t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Older pumps 50 plus years are unpredictable. they show sudden spikes, signaling higher infrastructure risk.</a:t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26" title="download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725" y="1209300"/>
            <a:ext cx="5412600" cy="3151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311700" y="342900"/>
            <a:ext cx="60207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/>
              <a:t>Does having a management keep the water flowing?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311700" y="1209300"/>
            <a:ext cx="3114900" cy="34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0241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Professional managers (private operator, water board, WUA) keep 70% over of pumps running.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02419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Schools and companies have the highest failure rates — likely NGO-run with no structured maintenance.</a:t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02419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The better organized the management, the lower the failure rate.</a:t>
            </a:r>
            <a:endParaRPr sz="1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" name="Google Shape;196;p27" title="download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600" y="1361700"/>
            <a:ext cx="5565001" cy="2363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 txBox="1"/>
          <p:nvPr>
            <p:ph type="title"/>
          </p:nvPr>
        </p:nvSpPr>
        <p:spPr>
          <a:xfrm>
            <a:off x="311700" y="342900"/>
            <a:ext cx="8147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Retrospective</a:t>
            </a:r>
            <a:endParaRPr/>
          </a:p>
        </p:txBody>
      </p:sp>
      <p:sp>
        <p:nvSpPr>
          <p:cNvPr id="202" name="Google Shape;202;p28"/>
          <p:cNvSpPr txBox="1"/>
          <p:nvPr>
            <p:ph idx="1" type="body"/>
          </p:nvPr>
        </p:nvSpPr>
        <p:spPr>
          <a:xfrm>
            <a:off x="311700" y="915600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Exploring the data iteratively gave us a deeper understanding during EDA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of communication early on caused confusion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consistent communication stays aligned and clear on goals.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4" name="Google Shape;204;p28"/>
          <p:cNvGrpSpPr/>
          <p:nvPr/>
        </p:nvGrpSpPr>
        <p:grpSpPr>
          <a:xfrm rot="2699785">
            <a:off x="482122" y="4029609"/>
            <a:ext cx="1208946" cy="982653"/>
            <a:chOff x="2318413" y="2452450"/>
            <a:chExt cx="1067700" cy="867900"/>
          </a:xfrm>
        </p:grpSpPr>
        <p:sp>
          <p:nvSpPr>
            <p:cNvPr id="205" name="Google Shape;205;p28"/>
            <p:cNvSpPr/>
            <p:nvPr/>
          </p:nvSpPr>
          <p:spPr>
            <a:xfrm>
              <a:off x="2318413" y="25286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8"/>
            <p:cNvSpPr/>
            <p:nvPr/>
          </p:nvSpPr>
          <p:spPr>
            <a:xfrm>
              <a:off x="2470813" y="2452450"/>
              <a:ext cx="915300" cy="7917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7" name="Google Shape;20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370" y="1972579"/>
            <a:ext cx="1084950" cy="113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466613" y="4762672"/>
            <a:ext cx="365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555550" y="1581500"/>
            <a:ext cx="7998900" cy="209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a lot!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D5D5D"/>
      </a:dk2>
      <a:lt2>
        <a:srgbClr val="DADADA"/>
      </a:lt2>
      <a:accent1>
        <a:srgbClr val="58ADC5"/>
      </a:accent1>
      <a:accent2>
        <a:srgbClr val="8AC6D6"/>
      </a:accent2>
      <a:accent3>
        <a:srgbClr val="CDE6EE"/>
      </a:accent3>
      <a:accent4>
        <a:srgbClr val="EA5B25"/>
      </a:accent4>
      <a:accent5>
        <a:srgbClr val="F08C66"/>
      </a:accent5>
      <a:accent6>
        <a:srgbClr val="F9CEBE"/>
      </a:accent6>
      <a:hlink>
        <a:srgbClr val="58AD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